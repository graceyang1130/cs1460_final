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27432000" cx="36576000"/>
  <p:notesSz cx="6858000" cy="9144000"/>
  <p:embeddedFontLst>
    <p:embeddedFont>
      <p:font typeface="Open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1520">
          <p15:clr>
            <a:srgbClr val="A4A3A4"/>
          </p15:clr>
        </p15:guide>
        <p15:guide id="2" orient="horz" pos="86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MgaKT/j2a1kT1Tlvzgxt/fzqWi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Grace Ya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520"/>
        <p:guide pos="86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Italic.fntdata"/><Relationship Id="rId10" Type="http://schemas.openxmlformats.org/officeDocument/2006/relationships/font" Target="fonts/OpenSans-italic.fntdata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OpenSans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12T07:33:45.227">
    <p:pos x="10611" y="13790"/>
    <p:text>NOTE I kinda included an expected visualization, actual prediction of USA is below (if we would rather use what we currently have)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jWyKGdI"/>
      </p:ext>
    </p:extLst>
  </p:cm>
  <p:cm authorId="0" idx="2" dt="2025-05-12T07:33:45.227">
    <p:pos x="10611" y="13790"/>
    <p:text>and same w shadow model plz replace if we have better results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jWyKGdQ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kaggle.com/datasets/paulchambaz/google-street-view" TargetMode="External"/><Relationship Id="rId3" Type="http://schemas.openxmlformats.org/officeDocument/2006/relationships/hyperlink" Target="https://www.canva.com/design/DAGnMUGMPkA/LVfdiytq1BvDeDnm8emlyQ/edit?utm_content=DAGnMUGMPkA&amp;utm_campaign=designshare&amp;utm_medium=link2&amp;utm_source=sharebutton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u="sng">
                <a:solidFill>
                  <a:schemeClr val="hlink"/>
                </a:solidFill>
                <a:hlinkClick r:id="rId2"/>
              </a:rPr>
              <a:t>https://www.kaggle.com/datasets/paulchambaz/google-street-view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If need to change the graphics, edit &amp; screenshot from here: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https://www.canva.com/design/DAGnMUGMPkA/LVfdiytq1BvDeDnm8emlyQ/edit?utm_content=DAGnMUGMPkA&amp;utm_campaign=designshare&amp;utm_medium=link2&amp;utm_source=sharebutton</a:t>
            </a:r>
            <a:r>
              <a:rPr lang="en-CA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2743200" y="4489452"/>
            <a:ext cx="31089600" cy="955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0"/>
              <a:buFont typeface="Calibri"/>
              <a:buNone/>
              <a:defRPr sz="2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572000" y="14408152"/>
            <a:ext cx="27432000" cy="662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1pPr>
            <a:lvl2pPr lvl="1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/>
            </a:lvl2pPr>
            <a:lvl3pPr lvl="2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4pPr>
            <a:lvl5pPr lvl="4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5pPr>
            <a:lvl6pPr lvl="5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514600" y="1460506"/>
            <a:ext cx="31546800" cy="530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514600" y="7302500"/>
            <a:ext cx="31546800" cy="17405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2495552" y="6838958"/>
            <a:ext cx="31546800" cy="114109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0"/>
              <a:buFont typeface="Calibri"/>
              <a:buNone/>
              <a:defRPr sz="2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2495552" y="18357858"/>
            <a:ext cx="31546800" cy="6000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8000"/>
              <a:buNone/>
              <a:defRPr sz="8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  <a:defRPr sz="7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2514600" y="1460506"/>
            <a:ext cx="31546800" cy="530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514600" y="7302500"/>
            <a:ext cx="15544800" cy="17405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18516600" y="7302500"/>
            <a:ext cx="15544800" cy="17405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2519364" y="1460506"/>
            <a:ext cx="31546800" cy="530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2519368" y="6724652"/>
            <a:ext cx="15473360" cy="3295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indent="-2286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/>
            </a:lvl2pPr>
            <a:lvl3pPr indent="-2286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3pPr>
            <a:lvl4pPr indent="-2286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4pPr>
            <a:lvl5pPr indent="-2286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5pPr>
            <a:lvl6pPr indent="-2286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2519368" y="10020300"/>
            <a:ext cx="15473360" cy="14738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18516602" y="6724652"/>
            <a:ext cx="15549564" cy="3295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indent="-2286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/>
            </a:lvl2pPr>
            <a:lvl3pPr indent="-2286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b="1" sz="7200"/>
            </a:lvl3pPr>
            <a:lvl4pPr indent="-2286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4pPr>
            <a:lvl5pPr indent="-2286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5pPr>
            <a:lvl6pPr indent="-2286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18516602" y="10020300"/>
            <a:ext cx="15549564" cy="14738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2514600" y="1460506"/>
            <a:ext cx="31546800" cy="530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2519364" y="1828800"/>
            <a:ext cx="11796712" cy="6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Calibri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5549564" y="3949706"/>
            <a:ext cx="18516600" cy="19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0414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2800"/>
              <a:buChar char="•"/>
              <a:defRPr sz="12800"/>
            </a:lvl1pPr>
            <a:lvl2pPr indent="-9398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200"/>
              <a:buChar char="•"/>
              <a:defRPr sz="11200"/>
            </a:lvl2pPr>
            <a:lvl3pPr indent="-8382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3pPr>
            <a:lvl4pPr indent="-7366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4pPr>
            <a:lvl5pPr indent="-7366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5pPr>
            <a:lvl6pPr indent="-7366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6pPr>
            <a:lvl7pPr indent="-736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7pPr>
            <a:lvl8pPr indent="-736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8pPr>
            <a:lvl9pPr indent="-7366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2519364" y="8229600"/>
            <a:ext cx="11796712" cy="15246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1pPr>
            <a:lvl2pPr indent="-2286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2pPr>
            <a:lvl3pPr indent="-2286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indent="-2286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indent="-2286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2519364" y="1828800"/>
            <a:ext cx="11796712" cy="6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Calibri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5549564" y="3949706"/>
            <a:ext cx="18516600" cy="19494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2519364" y="8229600"/>
            <a:ext cx="11796712" cy="15246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1pPr>
            <a:lvl2pPr indent="-2286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/>
            </a:lvl2pPr>
            <a:lvl3pPr indent="-2286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indent="-2286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indent="-2286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2514600" y="1460506"/>
            <a:ext cx="31546800" cy="530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9585324" y="231776"/>
            <a:ext cx="17405352" cy="3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8494376" y="9140826"/>
            <a:ext cx="23247352" cy="78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2492376" y="1482726"/>
            <a:ext cx="23247352" cy="23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514600" y="1460506"/>
            <a:ext cx="31546800" cy="530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0"/>
              <a:buFont typeface="Calibri"/>
              <a:buNone/>
              <a:defRPr b="0" i="0" sz="1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514600" y="7302500"/>
            <a:ext cx="31546800" cy="17405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39800" lvl="0" marL="457200" marR="0" rtl="0" algn="l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Arial"/>
              <a:buChar char="•"/>
              <a:defRPr b="0" i="0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858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858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858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858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858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858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b="0" i="0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25146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2115800" y="25425406"/>
            <a:ext cx="123444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5831800" y="25425406"/>
            <a:ext cx="82296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11" Type="http://schemas.openxmlformats.org/officeDocument/2006/relationships/image" Target="../media/image15.png"/><Relationship Id="rId10" Type="http://schemas.openxmlformats.org/officeDocument/2006/relationships/image" Target="../media/image10.png"/><Relationship Id="rId21" Type="http://schemas.openxmlformats.org/officeDocument/2006/relationships/image" Target="../media/image16.png"/><Relationship Id="rId13" Type="http://schemas.openxmlformats.org/officeDocument/2006/relationships/image" Target="../media/image3.jp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15" Type="http://schemas.openxmlformats.org/officeDocument/2006/relationships/image" Target="../media/image9.png"/><Relationship Id="rId14" Type="http://schemas.openxmlformats.org/officeDocument/2006/relationships/image" Target="../media/image17.png"/><Relationship Id="rId17" Type="http://schemas.openxmlformats.org/officeDocument/2006/relationships/image" Target="../media/image6.png"/><Relationship Id="rId16" Type="http://schemas.openxmlformats.org/officeDocument/2006/relationships/image" Target="../media/image11.png"/><Relationship Id="rId5" Type="http://schemas.openxmlformats.org/officeDocument/2006/relationships/image" Target="../media/image14.png"/><Relationship Id="rId19" Type="http://schemas.openxmlformats.org/officeDocument/2006/relationships/image" Target="../media/image5.png"/><Relationship Id="rId6" Type="http://schemas.openxmlformats.org/officeDocument/2006/relationships/image" Target="../media/image2.png"/><Relationship Id="rId18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1" y="2042627"/>
            <a:ext cx="36576000" cy="25389372"/>
          </a:xfrm>
          <a:prstGeom prst="rect">
            <a:avLst/>
          </a:prstGeom>
          <a:solidFill>
            <a:srgbClr val="EFEC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25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1"/>
            <a:ext cx="36576000" cy="2966031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25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-54744" y="404911"/>
            <a:ext cx="36576000" cy="109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6546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GeoGoat: Computer Vision-Driven Global Geographic Inference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0" y="1535817"/>
            <a:ext cx="365214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545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Harys Dalvi   Kelvin Jiang   Akarsh Ojha   Grace Yang</a:t>
            </a:r>
            <a:endParaRPr sz="5455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461185" y="3463889"/>
            <a:ext cx="11641179" cy="6404591"/>
            <a:chOff x="473312" y="3780336"/>
            <a:chExt cx="16290687" cy="7044980"/>
          </a:xfrm>
        </p:grpSpPr>
        <p:grpSp>
          <p:nvGrpSpPr>
            <p:cNvPr id="94" name="Google Shape;94;p1"/>
            <p:cNvGrpSpPr/>
            <p:nvPr/>
          </p:nvGrpSpPr>
          <p:grpSpPr>
            <a:xfrm>
              <a:off x="473312" y="3780336"/>
              <a:ext cx="16290687" cy="7044980"/>
              <a:chOff x="473312" y="3780336"/>
              <a:chExt cx="16290687" cy="704498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73312" y="3785008"/>
                <a:ext cx="16290687" cy="7040308"/>
              </a:xfrm>
              <a:prstGeom prst="rect">
                <a:avLst/>
              </a:prstGeom>
              <a:solidFill>
                <a:srgbClr val="F9F6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4425" u="none" cap="none" strike="noStrik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473312" y="3780336"/>
                <a:ext cx="16290687" cy="959241"/>
              </a:xfrm>
              <a:prstGeom prst="rect">
                <a:avLst/>
              </a:prstGeom>
              <a:solidFill>
                <a:srgbClr val="66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364"/>
                  <a:buFont typeface="Open Sans"/>
                  <a:buNone/>
                </a:pPr>
                <a:r>
                  <a:rPr b="1" i="0" lang="en-CA" sz="4364" u="none" cap="none" strike="noStrik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Motivation</a:t>
                </a:r>
                <a:endParaRPr/>
              </a:p>
            </p:txBody>
          </p:sp>
        </p:grpSp>
        <p:sp>
          <p:nvSpPr>
            <p:cNvPr id="97" name="Google Shape;97;p1"/>
            <p:cNvSpPr txBox="1"/>
            <p:nvPr/>
          </p:nvSpPr>
          <p:spPr>
            <a:xfrm>
              <a:off x="757534" y="5292818"/>
              <a:ext cx="11548200" cy="281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4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We wanted to create a CV model that performed better in the popular game GeoGuessr than most human players.</a:t>
              </a:r>
              <a:endParaRPr/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2310954" y="3463889"/>
            <a:ext cx="11891472" cy="6404591"/>
            <a:chOff x="13500301" y="3780336"/>
            <a:chExt cx="13080488" cy="7044980"/>
          </a:xfrm>
        </p:grpSpPr>
        <p:grpSp>
          <p:nvGrpSpPr>
            <p:cNvPr id="99" name="Google Shape;99;p1"/>
            <p:cNvGrpSpPr/>
            <p:nvPr/>
          </p:nvGrpSpPr>
          <p:grpSpPr>
            <a:xfrm>
              <a:off x="13500301" y="3780336"/>
              <a:ext cx="13080488" cy="7044980"/>
              <a:chOff x="17811102" y="3780336"/>
              <a:chExt cx="9488352" cy="7044980"/>
            </a:xfrm>
          </p:grpSpPr>
          <p:sp>
            <p:nvSpPr>
              <p:cNvPr id="100" name="Google Shape;100;p1"/>
              <p:cNvSpPr/>
              <p:nvPr/>
            </p:nvSpPr>
            <p:spPr>
              <a:xfrm>
                <a:off x="17811102" y="3785008"/>
                <a:ext cx="9488352" cy="7040308"/>
              </a:xfrm>
              <a:prstGeom prst="rect">
                <a:avLst/>
              </a:prstGeom>
              <a:solidFill>
                <a:srgbClr val="F9F6E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t/>
                </a:r>
                <a:endParaRPr sz="4425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1" name="Google Shape;101;p1"/>
              <p:cNvSpPr txBox="1"/>
              <p:nvPr/>
            </p:nvSpPr>
            <p:spPr>
              <a:xfrm>
                <a:off x="17811102" y="3780336"/>
                <a:ext cx="9488352" cy="959241"/>
              </a:xfrm>
              <a:prstGeom prst="rect">
                <a:avLst/>
              </a:prstGeom>
              <a:solidFill>
                <a:srgbClr val="66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364"/>
                  <a:buFont typeface="Open Sans"/>
                  <a:buNone/>
                </a:pPr>
                <a:r>
                  <a:rPr b="1" lang="en-CA" sz="4364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The Core Problem</a:t>
                </a:r>
                <a:endParaRPr/>
              </a:p>
            </p:txBody>
          </p:sp>
        </p:grpSp>
        <p:sp>
          <p:nvSpPr>
            <p:cNvPr id="102" name="Google Shape;102;p1"/>
            <p:cNvSpPr txBox="1"/>
            <p:nvPr/>
          </p:nvSpPr>
          <p:spPr>
            <a:xfrm>
              <a:off x="20553057" y="6202971"/>
              <a:ext cx="5779200" cy="443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3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Category-Free Location Regression</a:t>
              </a:r>
              <a:endParaRPr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No fixed object classes; inference based on global scene semantics.</a:t>
              </a:r>
              <a:endParaRPr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Location emerges from patterns in natural and man-made environments.</a:t>
              </a:r>
              <a:endParaRPr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3" name="Google Shape;103;p1"/>
            <p:cNvSpPr txBox="1"/>
            <p:nvPr/>
          </p:nvSpPr>
          <p:spPr>
            <a:xfrm>
              <a:off x="13705682" y="7828396"/>
              <a:ext cx="6369300" cy="281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A" sz="3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Geo-Localization from </a:t>
              </a:r>
              <a:r>
                <a:rPr b="1" lang="en-CA" sz="3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Visual Content</a:t>
              </a:r>
              <a:endParaRPr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32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Requires learning spatial cues from visual features alone.</a:t>
              </a:r>
              <a:endParaRPr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24411096" y="3460792"/>
            <a:ext cx="11640504" cy="6404219"/>
            <a:chOff x="27634435" y="3773932"/>
            <a:chExt cx="12145768" cy="7340079"/>
          </a:xfrm>
        </p:grpSpPr>
        <p:sp>
          <p:nvSpPr>
            <p:cNvPr id="105" name="Google Shape;105;p1"/>
            <p:cNvSpPr/>
            <p:nvPr/>
          </p:nvSpPr>
          <p:spPr>
            <a:xfrm>
              <a:off x="27635603" y="4069111"/>
              <a:ext cx="12144600" cy="7044900"/>
            </a:xfrm>
            <a:prstGeom prst="rect">
              <a:avLst/>
            </a:prstGeom>
            <a:solidFill>
              <a:srgbClr val="F9F6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27634435" y="3773932"/>
              <a:ext cx="12144652" cy="959241"/>
            </a:xfrm>
            <a:prstGeom prst="rect">
              <a:avLst/>
            </a:prstGeom>
            <a:solidFill>
              <a:srgbClr val="6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364"/>
                <a:buFont typeface="Open Sans"/>
                <a:buNone/>
              </a:pPr>
              <a:r>
                <a:rPr b="1" lang="en-CA" sz="4364" u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Goal</a:t>
              </a:r>
              <a:endParaRPr/>
            </a:p>
          </p:txBody>
        </p:sp>
      </p:grpSp>
      <p:sp>
        <p:nvSpPr>
          <p:cNvPr id="107" name="Google Shape;107;p1"/>
          <p:cNvSpPr/>
          <p:nvPr/>
        </p:nvSpPr>
        <p:spPr>
          <a:xfrm>
            <a:off x="29428725" y="8138505"/>
            <a:ext cx="1670400" cy="5661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C00000"/>
              </a:gs>
              <a:gs pos="79000">
                <a:srgbClr val="C00000"/>
              </a:gs>
              <a:gs pos="100000">
                <a:srgbClr val="C00000"/>
              </a:gs>
            </a:gsLst>
            <a:lin ang="5400000" scaled="0"/>
          </a:gradFill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0000" rotWithShape="0" dir="5400000" dist="23000">
              <a:srgbClr val="C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7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4675596" y="4474368"/>
            <a:ext cx="11114566" cy="2555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model should be able to:</a:t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67596" lvl="0" marL="46759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AutoNum type="arabicPeriod"/>
            </a:pPr>
            <a:r>
              <a:rPr lang="en-CA" sz="3200">
                <a:latin typeface="Open Sans"/>
                <a:ea typeface="Open Sans"/>
                <a:cs typeface="Open Sans"/>
                <a:sym typeface="Open Sans"/>
              </a:rPr>
              <a:t>Accurately predict the location (country or coordinates) of any given geographic image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  <a:p>
            <a:pPr indent="-467596" lvl="0" marL="46759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CA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Specifically analyze biome/geography features, and shadow angles as visual cues</a:t>
            </a:r>
            <a:endParaRPr/>
          </a:p>
        </p:txBody>
      </p:sp>
      <p:grpSp>
        <p:nvGrpSpPr>
          <p:cNvPr id="109" name="Google Shape;109;p1"/>
          <p:cNvGrpSpPr/>
          <p:nvPr/>
        </p:nvGrpSpPr>
        <p:grpSpPr>
          <a:xfrm>
            <a:off x="476974" y="10153401"/>
            <a:ext cx="35574169" cy="6807146"/>
            <a:chOff x="528372" y="11796662"/>
            <a:chExt cx="39174286" cy="7974632"/>
          </a:xfrm>
        </p:grpSpPr>
        <p:sp>
          <p:nvSpPr>
            <p:cNvPr id="110" name="Google Shape;110;p1"/>
            <p:cNvSpPr/>
            <p:nvPr/>
          </p:nvSpPr>
          <p:spPr>
            <a:xfrm>
              <a:off x="528372" y="11801334"/>
              <a:ext cx="39174286" cy="7969960"/>
            </a:xfrm>
            <a:prstGeom prst="rect">
              <a:avLst/>
            </a:prstGeom>
            <a:solidFill>
              <a:srgbClr val="F9F6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1" name="Google Shape;111;p1"/>
            <p:cNvSpPr txBox="1"/>
            <p:nvPr/>
          </p:nvSpPr>
          <p:spPr>
            <a:xfrm>
              <a:off x="528372" y="11796662"/>
              <a:ext cx="39174286" cy="959241"/>
            </a:xfrm>
            <a:prstGeom prst="rect">
              <a:avLst/>
            </a:prstGeom>
            <a:solidFill>
              <a:srgbClr val="6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364"/>
                <a:buFont typeface="Open Sans"/>
                <a:buNone/>
              </a:pPr>
              <a:r>
                <a:rPr b="1" lang="en-CA" sz="4364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A Joint Computer Vision and Deep Learning Approach</a:t>
              </a:r>
              <a:endParaRPr/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461195" y="17153298"/>
            <a:ext cx="10417645" cy="7759314"/>
            <a:chOff x="446420" y="11895593"/>
            <a:chExt cx="29230204" cy="7087426"/>
          </a:xfrm>
        </p:grpSpPr>
        <p:sp>
          <p:nvSpPr>
            <p:cNvPr id="113" name="Google Shape;113;p1"/>
            <p:cNvSpPr/>
            <p:nvPr/>
          </p:nvSpPr>
          <p:spPr>
            <a:xfrm>
              <a:off x="446420" y="12000062"/>
              <a:ext cx="29230204" cy="6982957"/>
            </a:xfrm>
            <a:prstGeom prst="rect">
              <a:avLst/>
            </a:prstGeom>
            <a:solidFill>
              <a:srgbClr val="F9F6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446420" y="11895593"/>
              <a:ext cx="29230204" cy="974462"/>
            </a:xfrm>
            <a:prstGeom prst="rect">
              <a:avLst/>
            </a:prstGeom>
            <a:solidFill>
              <a:srgbClr val="66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364"/>
                <a:buFont typeface="Open Sans"/>
                <a:buNone/>
              </a:pPr>
              <a:r>
                <a:rPr b="1" lang="en-CA" sz="4364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Distribution</a:t>
              </a:r>
              <a:endParaRPr/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11208109" y="17154138"/>
            <a:ext cx="24907011" cy="7759827"/>
            <a:chOff x="528372" y="11801334"/>
            <a:chExt cx="39174286" cy="7040308"/>
          </a:xfrm>
        </p:grpSpPr>
        <p:sp>
          <p:nvSpPr>
            <p:cNvPr id="116" name="Google Shape;116;p1"/>
            <p:cNvSpPr/>
            <p:nvPr/>
          </p:nvSpPr>
          <p:spPr>
            <a:xfrm>
              <a:off x="528372" y="11801334"/>
              <a:ext cx="39174286" cy="704030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42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528372" y="11801334"/>
              <a:ext cx="39174286" cy="9679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364"/>
                <a:buFont typeface="Open Sans"/>
                <a:buNone/>
              </a:pPr>
              <a:r>
                <a:rPr b="1" lang="en-CA" sz="4364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Results</a:t>
              </a:r>
              <a:endParaRPr/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465695" y="25075883"/>
            <a:ext cx="35649486" cy="1998442"/>
            <a:chOff x="569637" y="27583195"/>
            <a:chExt cx="39214043" cy="2198264"/>
          </a:xfrm>
        </p:grpSpPr>
        <p:grpSp>
          <p:nvGrpSpPr>
            <p:cNvPr id="119" name="Google Shape;119;p1"/>
            <p:cNvGrpSpPr/>
            <p:nvPr/>
          </p:nvGrpSpPr>
          <p:grpSpPr>
            <a:xfrm>
              <a:off x="569637" y="27583195"/>
              <a:ext cx="39214043" cy="2198264"/>
              <a:chOff x="488615" y="27502128"/>
              <a:chExt cx="39214043" cy="2198264"/>
            </a:xfrm>
          </p:grpSpPr>
          <p:grpSp>
            <p:nvGrpSpPr>
              <p:cNvPr id="120" name="Google Shape;120;p1"/>
              <p:cNvGrpSpPr/>
              <p:nvPr/>
            </p:nvGrpSpPr>
            <p:grpSpPr>
              <a:xfrm>
                <a:off x="488615" y="27502128"/>
                <a:ext cx="21371375" cy="2198264"/>
                <a:chOff x="488615" y="27502128"/>
                <a:chExt cx="21371375" cy="2198264"/>
              </a:xfrm>
            </p:grpSpPr>
            <p:grpSp>
              <p:nvGrpSpPr>
                <p:cNvPr id="121" name="Google Shape;121;p1"/>
                <p:cNvGrpSpPr/>
                <p:nvPr/>
              </p:nvGrpSpPr>
              <p:grpSpPr>
                <a:xfrm>
                  <a:off x="488615" y="27502128"/>
                  <a:ext cx="21371375" cy="2163187"/>
                  <a:chOff x="455496" y="12342623"/>
                  <a:chExt cx="39174286" cy="2163187"/>
                </a:xfrm>
              </p:grpSpPr>
              <p:sp>
                <p:nvSpPr>
                  <p:cNvPr id="122" name="Google Shape;122;p1"/>
                  <p:cNvSpPr/>
                  <p:nvPr/>
                </p:nvSpPr>
                <p:spPr>
                  <a:xfrm>
                    <a:off x="455496" y="12342623"/>
                    <a:ext cx="39174286" cy="2163187"/>
                  </a:xfrm>
                  <a:prstGeom prst="rect">
                    <a:avLst/>
                  </a:prstGeom>
                  <a:solidFill>
                    <a:srgbClr val="F9F6E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4425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  <p:sp>
                <p:nvSpPr>
                  <p:cNvPr id="123" name="Google Shape;123;p1"/>
                  <p:cNvSpPr txBox="1"/>
                  <p:nvPr/>
                </p:nvSpPr>
                <p:spPr>
                  <a:xfrm>
                    <a:off x="455496" y="12353355"/>
                    <a:ext cx="39174286" cy="573288"/>
                  </a:xfrm>
                  <a:prstGeom prst="rect">
                    <a:avLst/>
                  </a:prstGeom>
                  <a:solidFill>
                    <a:srgbClr val="66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3273"/>
                      <a:buFont typeface="Open Sans"/>
                      <a:buNone/>
                    </a:pPr>
                    <a:r>
                      <a:rPr b="1" lang="en-CA" sz="3273" u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rPr>
                      <a:t>References</a:t>
                    </a:r>
                    <a:endParaRPr/>
                  </a:p>
                </p:txBody>
              </p:sp>
            </p:grpSp>
            <p:sp>
              <p:nvSpPr>
                <p:cNvPr id="124" name="Google Shape;124;p1"/>
                <p:cNvSpPr/>
                <p:nvPr/>
              </p:nvSpPr>
              <p:spPr>
                <a:xfrm>
                  <a:off x="655277" y="28367900"/>
                  <a:ext cx="21164651" cy="13324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[1] S. Alberti, C. Finn, </a:t>
                  </a:r>
                  <a:r>
                    <a:rPr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L. Haas, M. Skreta, </a:t>
                  </a:r>
                  <a:r>
                    <a:rPr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 “PIGEON</a:t>
                  </a:r>
                  <a:r>
                    <a:rPr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: Predicting Image Geolocations</a:t>
                  </a:r>
                  <a:r>
                    <a:rPr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” arXiv:</a:t>
                  </a:r>
                  <a:r>
                    <a:rPr i="1"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2307.05845</a:t>
                  </a:r>
                  <a:r>
                    <a:rPr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, 2024</a:t>
                  </a:r>
                  <a:r>
                    <a:rPr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.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[2] </a:t>
                  </a:r>
                  <a:r>
                    <a:rPr lang="en-CA" sz="1818">
                      <a:solidFill>
                        <a:schemeClr val="dk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Beck, H.E., T.R. McVicar, N. Vergopolan, A. Berg, N.J. Lutsko, A. Dufour, Z. Zeng, X. Jiang, A.I.J.M. van Dijk, D.G. Miralles, “High-resolution (1 km) Köppen-Geiger maps for 1901–2099 based on constrained CMIP6 projections” Scientific Data 10, 724, doi:10.1038/s41597-023–02549‑6, 2023.</a:t>
                  </a:r>
                  <a:endParaRPr/>
                </a:p>
              </p:txBody>
            </p:sp>
          </p:grpSp>
          <p:grpSp>
            <p:nvGrpSpPr>
              <p:cNvPr id="125" name="Google Shape;125;p1"/>
              <p:cNvGrpSpPr/>
              <p:nvPr/>
            </p:nvGrpSpPr>
            <p:grpSpPr>
              <a:xfrm>
                <a:off x="22262123" y="27502129"/>
                <a:ext cx="17440535" cy="2163187"/>
                <a:chOff x="528372" y="12334877"/>
                <a:chExt cx="31284737" cy="2163187"/>
              </a:xfrm>
            </p:grpSpPr>
            <p:sp>
              <p:nvSpPr>
                <p:cNvPr id="126" name="Google Shape;126;p1"/>
                <p:cNvSpPr/>
                <p:nvPr/>
              </p:nvSpPr>
              <p:spPr>
                <a:xfrm>
                  <a:off x="528372" y="12352765"/>
                  <a:ext cx="31284737" cy="2145299"/>
                </a:xfrm>
                <a:prstGeom prst="rect">
                  <a:avLst/>
                </a:prstGeom>
                <a:solidFill>
                  <a:srgbClr val="F9F6E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425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27" name="Google Shape;127;p1"/>
                <p:cNvSpPr txBox="1"/>
                <p:nvPr/>
              </p:nvSpPr>
              <p:spPr>
                <a:xfrm>
                  <a:off x="528372" y="12334877"/>
                  <a:ext cx="31284737" cy="584018"/>
                </a:xfrm>
                <a:prstGeom prst="rect">
                  <a:avLst/>
                </a:prstGeom>
                <a:solidFill>
                  <a:srgbClr val="66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3273"/>
                    <a:buFont typeface="Open Sans"/>
                    <a:buNone/>
                  </a:pPr>
                  <a:r>
                    <a:rPr b="1" lang="en-CA" sz="3273" u="none">
                      <a:solidFill>
                        <a:schemeClr val="lt1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Acknowledgements</a:t>
                  </a:r>
                  <a:endParaRPr/>
                </a:p>
              </p:txBody>
            </p:sp>
          </p:grpSp>
        </p:grpSp>
        <p:sp>
          <p:nvSpPr>
            <p:cNvPr id="128" name="Google Shape;128;p1"/>
            <p:cNvSpPr/>
            <p:nvPr/>
          </p:nvSpPr>
          <p:spPr>
            <a:xfrm>
              <a:off x="22510655" y="28388361"/>
              <a:ext cx="17108400" cy="12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2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We would like to thank the wonderful teaching staff of CS1430, the writers of our inspiration paper (Reference 1), the collectors and subjects of our data, and the creators of </a:t>
              </a:r>
              <a:r>
                <a:rPr lang="en-CA" sz="2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GeoGuessr</a:t>
              </a:r>
              <a:r>
                <a:rPr lang="en-CA" sz="2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! </a:t>
              </a:r>
              <a:endParaRPr sz="1000"/>
            </a:p>
          </p:txBody>
        </p:sp>
      </p:grpSp>
      <p:pic>
        <p:nvPicPr>
          <p:cNvPr id="129" name="Google Shape;1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6192" y="395637"/>
            <a:ext cx="1871383" cy="21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32791400" y="328850"/>
            <a:ext cx="2361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7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CSCI</a:t>
            </a:r>
            <a:br>
              <a:rPr b="1" lang="en-CA" sz="7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CA" sz="7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1430</a:t>
            </a:r>
            <a:endParaRPr b="1" sz="7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1" name="Google Shape;131;p1" title="Screenshot 2025-05-08 at 5.31.49 PM.png"/>
          <p:cNvPicPr preferRelativeResize="0"/>
          <p:nvPr/>
        </p:nvPicPr>
        <p:blipFill rotWithShape="1">
          <a:blip r:embed="rId5">
            <a:alphaModFix/>
          </a:blip>
          <a:srcRect b="2152" l="2567" r="2709" t="1322"/>
          <a:stretch/>
        </p:blipFill>
        <p:spPr>
          <a:xfrm>
            <a:off x="9101100" y="4476700"/>
            <a:ext cx="2824076" cy="518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vertise on GeoGuessr Website - ADspot" id="132" name="Google Shape;132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875" y="7897050"/>
            <a:ext cx="7902575" cy="15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" title="Screenshot 2025-05-09 at 4.51.2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642766" y="7267425"/>
            <a:ext cx="3741658" cy="230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" title="Screenshot 2025-05-09 at 5.04.15 PM.png"/>
          <p:cNvPicPr preferRelativeResize="0"/>
          <p:nvPr/>
        </p:nvPicPr>
        <p:blipFill rotWithShape="1">
          <a:blip r:embed="rId8">
            <a:alphaModFix/>
          </a:blip>
          <a:srcRect b="0" l="18393" r="0" t="0"/>
          <a:stretch/>
        </p:blipFill>
        <p:spPr>
          <a:xfrm>
            <a:off x="25143300" y="7287398"/>
            <a:ext cx="3741663" cy="2268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 txBox="1"/>
          <p:nvPr/>
        </p:nvSpPr>
        <p:spPr>
          <a:xfrm>
            <a:off x="12579100" y="4495500"/>
            <a:ext cx="8073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Supervised Global Positioning</a:t>
            </a:r>
            <a:endParaRPr b="1"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Supervision via coordinate-based geotags from Flickr, Street View.</a:t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 explicit region labels or </a:t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semantic annotations included.</a:t>
            </a:r>
            <a:endParaRPr sz="3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6" name="Google Shape;136;p1" title="pngtree-world-earth-logo-vector-design-png-image_651431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67775" y="4474375"/>
            <a:ext cx="1099675" cy="109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 txBox="1"/>
          <p:nvPr/>
        </p:nvSpPr>
        <p:spPr>
          <a:xfrm>
            <a:off x="21064825" y="11335575"/>
            <a:ext cx="4503600" cy="5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Climate Feature Detection</a:t>
            </a:r>
            <a:endParaRPr b="1" sz="4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convolutional neural network starts with a pretrained resnet model and is fine-tuned on our Flickr dataset, then we map the </a:t>
            </a:r>
            <a:r>
              <a:rPr lang="en-CA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climate classification (1 of 30 types) to potential coordinates &amp; locations.</a:t>
            </a:r>
            <a:endParaRPr sz="4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7607625" y="11178550"/>
            <a:ext cx="948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1" title="Screenshot 2025-05-11 at 10.26.51 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33700" y="11311931"/>
            <a:ext cx="10141748" cy="541803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"/>
          <p:cNvSpPr txBox="1"/>
          <p:nvPr/>
        </p:nvSpPr>
        <p:spPr>
          <a:xfrm>
            <a:off x="16801825" y="10988000"/>
            <a:ext cx="42630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Shadow Angle Calculation</a:t>
            </a:r>
            <a:endParaRPr b="1" sz="4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extract shadow orientation features from our global Flickr dataset using the Hough transform, then map them to absolute latitude from the equator using a neural network regressor.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1" name="Google Shape;141;p1" title="Screenshot 2025-05-12 at 12.51.34 A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12525" y="11311925"/>
            <a:ext cx="9482331" cy="541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 title="Screenshot 2025-05-12 at 12.32.18 AM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9458" y="11311925"/>
            <a:ext cx="6216093" cy="541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 title="PNG image.jpe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9450" y="18575350"/>
            <a:ext cx="9959799" cy="615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 title="Screenshot 2025-05-12 at 1.14.19 AM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708850" y="18868088"/>
            <a:ext cx="4738498" cy="473236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 txBox="1"/>
          <p:nvPr/>
        </p:nvSpPr>
        <p:spPr>
          <a:xfrm>
            <a:off x="13009950" y="23872038"/>
            <a:ext cx="2136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Input Image</a:t>
            </a:r>
            <a:endParaRPr sz="2500"/>
          </a:p>
        </p:txBody>
      </p:sp>
      <p:pic>
        <p:nvPicPr>
          <p:cNvPr id="146" name="Google Shape;146;p1" title="Screenshot 2025-05-12 at 1.15.27 A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6324900" y="18575350"/>
            <a:ext cx="9284988" cy="557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 txBox="1"/>
          <p:nvPr/>
        </p:nvSpPr>
        <p:spPr>
          <a:xfrm>
            <a:off x="26760950" y="24147925"/>
            <a:ext cx="8412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Final Prediction, with our Pipeline (Combined) Model</a:t>
            </a:r>
            <a:endParaRPr sz="2500"/>
          </a:p>
        </p:txBody>
      </p:sp>
      <p:pic>
        <p:nvPicPr>
          <p:cNvPr id="148" name="Google Shape;148;p1" title="Screenshot 2025-05-12 at 1.17.59 AM.png"/>
          <p:cNvPicPr preferRelativeResize="0"/>
          <p:nvPr/>
        </p:nvPicPr>
        <p:blipFill rotWithShape="1">
          <a:blip r:embed="rId16">
            <a:alphaModFix/>
          </a:blip>
          <a:srcRect b="11586" l="0" r="17239" t="15955"/>
          <a:stretch/>
        </p:blipFill>
        <p:spPr>
          <a:xfrm>
            <a:off x="16845438" y="18790951"/>
            <a:ext cx="4318930" cy="2490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" title="Screenshot 2025-05-12 at 1.18.28 AM.png"/>
          <p:cNvPicPr preferRelativeResize="0"/>
          <p:nvPr/>
        </p:nvPicPr>
        <p:blipFill rotWithShape="1">
          <a:blip r:embed="rId17">
            <a:alphaModFix/>
          </a:blip>
          <a:srcRect b="13190" l="0" r="13703" t="23053"/>
          <a:stretch/>
        </p:blipFill>
        <p:spPr>
          <a:xfrm>
            <a:off x="21607883" y="18811667"/>
            <a:ext cx="4318930" cy="251474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"/>
          <p:cNvSpPr txBox="1"/>
          <p:nvPr/>
        </p:nvSpPr>
        <p:spPr>
          <a:xfrm>
            <a:off x="17271934" y="21281885"/>
            <a:ext cx="359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Climate Model - Coordinates</a:t>
            </a:r>
            <a:endParaRPr sz="1500"/>
          </a:p>
        </p:txBody>
      </p:sp>
      <p:sp>
        <p:nvSpPr>
          <p:cNvPr id="151" name="Google Shape;151;p1"/>
          <p:cNvSpPr txBox="1"/>
          <p:nvPr/>
        </p:nvSpPr>
        <p:spPr>
          <a:xfrm>
            <a:off x="21971400" y="21281875"/>
            <a:ext cx="374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Climate Model - Continent</a:t>
            </a:r>
            <a:endParaRPr sz="1500"/>
          </a:p>
        </p:txBody>
      </p:sp>
      <p:sp>
        <p:nvSpPr>
          <p:cNvPr id="152" name="Google Shape;152;p1"/>
          <p:cNvSpPr txBox="1"/>
          <p:nvPr/>
        </p:nvSpPr>
        <p:spPr>
          <a:xfrm>
            <a:off x="17207991" y="24195681"/>
            <a:ext cx="359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Climate Model - Country</a:t>
            </a:r>
            <a:endParaRPr sz="1500"/>
          </a:p>
        </p:txBody>
      </p:sp>
      <p:sp>
        <p:nvSpPr>
          <p:cNvPr id="153" name="Google Shape;153;p1"/>
          <p:cNvSpPr txBox="1"/>
          <p:nvPr/>
        </p:nvSpPr>
        <p:spPr>
          <a:xfrm>
            <a:off x="22022475" y="24195675"/>
            <a:ext cx="374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Shadow</a:t>
            </a:r>
            <a:r>
              <a:rPr lang="en-CA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Model - Latitudes</a:t>
            </a:r>
            <a:endParaRPr sz="1500"/>
          </a:p>
        </p:txBody>
      </p:sp>
      <p:pic>
        <p:nvPicPr>
          <p:cNvPr id="154" name="Google Shape;154;p1" title="Screenshot 2025-05-12 at 1.31.34 AM.png"/>
          <p:cNvPicPr preferRelativeResize="0"/>
          <p:nvPr/>
        </p:nvPicPr>
        <p:blipFill rotWithShape="1">
          <a:blip r:embed="rId18">
            <a:alphaModFix/>
          </a:blip>
          <a:srcRect b="0" l="0" r="0" t="19698"/>
          <a:stretch/>
        </p:blipFill>
        <p:spPr>
          <a:xfrm>
            <a:off x="16845438" y="21837862"/>
            <a:ext cx="4318928" cy="2405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" title="Screenshot 2025-05-12 at 2.07.10 AM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6845456" y="21892667"/>
            <a:ext cx="4452001" cy="2354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" title="Screenshot 2025-05-12 at 3.32.21 AM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1607869" y="21926596"/>
            <a:ext cx="4451998" cy="228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" title="Screenshot 2025-05-12 at 8.36.44 AM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6370300" y="19691499"/>
            <a:ext cx="7635326" cy="392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2017-09-13T18:27:54Z</dcterms:created>
  <dc:creator>Srinath Sridhar</dc:creator>
</cp:coreProperties>
</file>